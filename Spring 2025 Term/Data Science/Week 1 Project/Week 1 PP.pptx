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81" r:id="rId5"/>
    <p:sldId id="261" r:id="rId6"/>
    <p:sldId id="279" r:id="rId7"/>
    <p:sldId id="277" r:id="rId8"/>
    <p:sldId id="265" r:id="rId9"/>
    <p:sldId id="266" r:id="rId10"/>
    <p:sldId id="282" r:id="rId11"/>
    <p:sldId id="283" r:id="rId12"/>
    <p:sldId id="284" r:id="rId13"/>
    <p:sldId id="28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79" autoAdjust="0"/>
  </p:normalViewPr>
  <p:slideViewPr>
    <p:cSldViewPr snapToGrid="0">
      <p:cViewPr varScale="1">
        <p:scale>
          <a:sx n="60" d="100"/>
          <a:sy n="60" d="100"/>
        </p:scale>
        <p:origin x="96" y="121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3/15/2025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986387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3/15/2025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3/15/2025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3/15/2025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3/15/2025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3/15/2025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3/15/2025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561886"/>
            <a:ext cx="9144000" cy="2286000"/>
          </a:xfrm>
        </p:spPr>
        <p:txBody>
          <a:bodyPr/>
          <a:lstStyle/>
          <a:p>
            <a:r>
              <a:rPr lang="en-US" dirty="0"/>
              <a:t>DS Casino and Sportsbook</a:t>
            </a:r>
          </a:p>
        </p:txBody>
      </p:sp>
      <p:sp>
        <p:nvSpPr>
          <p:cNvPr id="2" name="TextBox 1">
            <a:extLst>
              <a:ext uri="{FF2B5EF4-FFF2-40B4-BE49-F238E27FC236}">
                <a16:creationId xmlns:a16="http://schemas.microsoft.com/office/drawing/2014/main" id="{273C62D9-79FB-8164-631F-511FBC14D037}"/>
              </a:ext>
            </a:extLst>
          </p:cNvPr>
          <p:cNvSpPr txBox="1"/>
          <p:nvPr/>
        </p:nvSpPr>
        <p:spPr>
          <a:xfrm>
            <a:off x="596781" y="3640783"/>
            <a:ext cx="10998438" cy="954107"/>
          </a:xfrm>
          <a:prstGeom prst="rect">
            <a:avLst/>
          </a:prstGeom>
          <a:noFill/>
        </p:spPr>
        <p:txBody>
          <a:bodyPr wrap="square" rtlCol="0">
            <a:spAutoFit/>
          </a:bodyPr>
          <a:lstStyle/>
          <a:p>
            <a:r>
              <a:rPr lang="en-US" sz="2800" dirty="0">
                <a:solidFill>
                  <a:schemeClr val="bg1"/>
                </a:solidFill>
              </a:rPr>
              <a:t>An Overview of Data Science Terms and Techniques and Their Applications 		         in the Casino and Sportsbook Industries</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t>    What is Data Science?</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5999"/>
            <a:ext cx="6241650" cy="3697705"/>
          </a:xfrm>
          <a:noFill/>
        </p:spPr>
        <p:txBody>
          <a:bodyPr vert="horz" lIns="91440" tIns="45720" rIns="91440" bIns="45720" rtlCol="0" anchor="t">
            <a:noAutofit/>
          </a:bodyPr>
          <a:lstStyle/>
          <a:p>
            <a:r>
              <a:rPr lang="en-US" sz="2000" dirty="0"/>
              <a:t>Data Science involves the principles, processes, and techniques for understanding phenomena via the automated analysis of data. </a:t>
            </a:r>
          </a:p>
          <a:p>
            <a:r>
              <a:rPr lang="en-US" sz="2000" dirty="0"/>
              <a:t>The ultimate goal of data science is to improve decision making.</a:t>
            </a:r>
          </a:p>
          <a:p>
            <a:r>
              <a:rPr lang="en-US" sz="2000" dirty="0"/>
              <a:t>Data, and the capability to extract useful knowledge from data, should be regarded as a key strategic asset in business. </a:t>
            </a:r>
          </a:p>
          <a:p>
            <a:r>
              <a:rPr lang="en-US" sz="2000" dirty="0"/>
              <a:t>Your data and its procurement should be considered a business investment. </a:t>
            </a:r>
          </a:p>
        </p:txBody>
      </p:sp>
    </p:spTree>
    <p:extLst>
      <p:ext uri="{BB962C8B-B14F-4D97-AF65-F5344CB8AC3E}">
        <p14:creationId xmlns:p14="http://schemas.microsoft.com/office/powerpoint/2010/main" val="36666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880"/>
          </a:xfrm>
          <a:noFill/>
        </p:spPr>
        <p:txBody>
          <a:bodyPr anchor="ctr"/>
          <a:lstStyle/>
          <a:p>
            <a:r>
              <a:rPr lang="en-US" dirty="0"/>
              <a:t>Data-Driven Decision-making (DDD)</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3"/>
          </p:nvPr>
        </p:nvSpPr>
        <p:spPr>
          <a:xfrm>
            <a:off x="244806" y="1691640"/>
            <a:ext cx="5851194" cy="4552309"/>
          </a:xfrm>
          <a:noFill/>
        </p:spPr>
        <p:txBody>
          <a:bodyPr>
            <a:normAutofit/>
          </a:bodyPr>
          <a:lstStyle/>
          <a:p>
            <a:r>
              <a:rPr lang="en-US" dirty="0"/>
              <a:t>Refers to the practice of basing decisions on the analysis of data, rather than purely on intuition.</a:t>
            </a:r>
          </a:p>
          <a:p>
            <a:pPr lvl="1"/>
            <a:r>
              <a:rPr lang="en-US" dirty="0"/>
              <a:t>Not an all-or-nothing practice.</a:t>
            </a:r>
          </a:p>
          <a:p>
            <a:pPr lvl="1"/>
            <a:r>
              <a:rPr lang="en-US" dirty="0"/>
              <a:t>Can be engaged in greater or lesser degrees based on the needs of the business/decision to be made. </a:t>
            </a:r>
          </a:p>
          <a:p>
            <a:pPr lvl="1"/>
            <a:endParaRPr lang="en-US" dirty="0"/>
          </a:p>
          <a:p>
            <a:pPr lvl="1" indent="0">
              <a:buNone/>
            </a:pPr>
            <a:r>
              <a:rPr lang="en-US" dirty="0"/>
              <a:t>Two types of decisions for which DDD will be useful:</a:t>
            </a:r>
          </a:p>
          <a:p>
            <a:pPr lvl="1"/>
            <a:r>
              <a:rPr lang="en-US" dirty="0"/>
              <a:t>1.) Decisions for which “discoveries” need to be made within the data.</a:t>
            </a:r>
          </a:p>
          <a:p>
            <a:pPr lvl="1"/>
            <a:r>
              <a:rPr lang="en-US" dirty="0"/>
              <a:t>2.) Decisions that repeat, especially at massive scale, and so decision-making can benefit from even small increases in decision-making accuracy based on data analysis. </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7" name="Picture 6">
            <a:extLst>
              <a:ext uri="{FF2B5EF4-FFF2-40B4-BE49-F238E27FC236}">
                <a16:creationId xmlns:a16="http://schemas.microsoft.com/office/drawing/2014/main" id="{2208217B-9817-CC00-AC09-DFE6BE1821E3}"/>
              </a:ext>
            </a:extLst>
          </p:cNvPr>
          <p:cNvPicPr>
            <a:picLocks noChangeAspect="1"/>
          </p:cNvPicPr>
          <p:nvPr/>
        </p:nvPicPr>
        <p:blipFill>
          <a:blip r:embed="rId3"/>
          <a:stretch>
            <a:fillRect/>
          </a:stretch>
        </p:blipFill>
        <p:spPr>
          <a:xfrm>
            <a:off x="5983705" y="1474114"/>
            <a:ext cx="6208295" cy="4829849"/>
          </a:xfrm>
          <a:prstGeom prst="rect">
            <a:avLst/>
          </a:prstGeom>
        </p:spPr>
      </p:pic>
    </p:spTree>
    <p:extLst>
      <p:ext uri="{BB962C8B-B14F-4D97-AF65-F5344CB8AC3E}">
        <p14:creationId xmlns:p14="http://schemas.microsoft.com/office/powerpoint/2010/main" val="224315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206018"/>
            <a:ext cx="6172200" cy="684320"/>
          </a:xfrm>
          <a:noFill/>
        </p:spPr>
        <p:txBody>
          <a:bodyPr anchor="b"/>
          <a:lstStyle/>
          <a:p>
            <a:r>
              <a:rPr lang="en-US" dirty="0"/>
              <a:t>Big Data technologies </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352926" y="1026695"/>
            <a:ext cx="6657474" cy="5085347"/>
          </a:xfrm>
          <a:noFill/>
        </p:spPr>
        <p:txBody>
          <a:bodyPr vert="horz" lIns="91440" tIns="45720" rIns="91440" bIns="45720" rtlCol="0" anchor="t">
            <a:normAutofit fontScale="92500" lnSpcReduction="10000"/>
          </a:bodyPr>
          <a:lstStyle/>
          <a:p>
            <a:r>
              <a:rPr lang="en-US" sz="1900" dirty="0"/>
              <a:t>“Big data” technologies (such as Hadoop, HBase, and MongoDB) are essentially datasets that are too large for traditional data processing systems and require new processing technologies. </a:t>
            </a:r>
          </a:p>
          <a:p>
            <a:pPr lvl="1">
              <a:lnSpc>
                <a:spcPct val="100000"/>
              </a:lnSpc>
            </a:pPr>
            <a:r>
              <a:rPr lang="en-US" sz="1900" dirty="0"/>
              <a:t>Used for many tasks, including data engineering and data processing. </a:t>
            </a:r>
          </a:p>
          <a:p>
            <a:pPr lvl="1">
              <a:lnSpc>
                <a:spcPct val="100000"/>
              </a:lnSpc>
            </a:pPr>
            <a:r>
              <a:rPr lang="en-US" sz="1900" dirty="0"/>
              <a:t>Can help many data-oriented business tasks that do no involve extracting knowledge or DDD, such as efficient transaction processing, modern web system processing, and online advertising campaign management. </a:t>
            </a:r>
          </a:p>
          <a:p>
            <a:pPr lvl="1">
              <a:lnSpc>
                <a:spcPct val="100000"/>
              </a:lnSpc>
            </a:pPr>
            <a:r>
              <a:rPr lang="en-US" sz="1900" dirty="0"/>
              <a:t>Occasionally used for implementing data mining techniques. </a:t>
            </a:r>
          </a:p>
          <a:p>
            <a:pPr lvl="1">
              <a:lnSpc>
                <a:spcPct val="100000"/>
              </a:lnSpc>
            </a:pPr>
            <a:r>
              <a:rPr lang="en-US" sz="1900" dirty="0"/>
              <a:t>Data science needs access to data and it often benefits from sophisticated data engineering that data processing technologies may facilitate. </a:t>
            </a:r>
          </a:p>
          <a:p>
            <a:pPr lvl="2">
              <a:lnSpc>
                <a:spcPct val="100000"/>
              </a:lnSpc>
            </a:pPr>
            <a:r>
              <a:rPr lang="en-US" sz="1900" dirty="0"/>
              <a:t>These technologies are not data science technologies but help support data science in general. </a:t>
            </a:r>
          </a:p>
          <a:p>
            <a:pPr lvl="1">
              <a:lnSpc>
                <a:spcPct val="100000"/>
              </a:lnSpc>
            </a:pPr>
            <a:endParaRPr lang="en-US" dirty="0"/>
          </a:p>
          <a:p>
            <a:endParaRPr lang="en-US" dirty="0"/>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880"/>
          </a:xfrm>
          <a:noFill/>
        </p:spPr>
        <p:txBody>
          <a:bodyPr anchor="ctr"/>
          <a:lstStyle/>
          <a:p>
            <a:r>
              <a:rPr lang="en-US" dirty="0"/>
              <a:t>Potential benefits of DDD and Big Data Tech</a:t>
            </a:r>
          </a:p>
        </p:txBody>
      </p:sp>
      <p:sp>
        <p:nvSpPr>
          <p:cNvPr id="52" name="Content Placeholder 51">
            <a:extLst>
              <a:ext uri="{FF2B5EF4-FFF2-40B4-BE49-F238E27FC236}">
                <a16:creationId xmlns:a16="http://schemas.microsoft.com/office/drawing/2014/main" id="{F2CCE123-860F-8623-781F-12CEA66980F5}"/>
              </a:ext>
            </a:extLst>
          </p:cNvPr>
          <p:cNvSpPr>
            <a:spLocks noGrp="1"/>
          </p:cNvSpPr>
          <p:nvPr>
            <p:ph sz="quarter" idx="13"/>
          </p:nvPr>
        </p:nvSpPr>
        <p:spPr>
          <a:xfrm>
            <a:off x="533400" y="1691641"/>
            <a:ext cx="5562600" cy="4470328"/>
          </a:xfrm>
        </p:spPr>
        <p:txBody>
          <a:bodyPr>
            <a:normAutofit lnSpcReduction="10000"/>
          </a:bodyPr>
          <a:lstStyle/>
          <a:p>
            <a:pPr marL="0" indent="0">
              <a:buNone/>
            </a:pPr>
            <a:r>
              <a:rPr lang="en-US" dirty="0"/>
              <a:t>Economist Erik Brynjolfsson and his colleagues from MIT and Penn’s Wharton School conducted a study of how DDD affects firm performance (Brynjolfsson, Hitt, &amp; Kim, 2011).</a:t>
            </a:r>
          </a:p>
          <a:p>
            <a:pPr marL="0" lvl="1" indent="-228600">
              <a:lnSpc>
                <a:spcPct val="100000"/>
              </a:lnSpc>
              <a:buFont typeface="Wingdings" panose="05000000000000000000" pitchFamily="2" charset="2"/>
              <a:buChar char="§"/>
            </a:pPr>
            <a:r>
              <a:rPr lang="en-US" dirty="0"/>
              <a:t>They developed a measure of DDD that rates firms as to how strongly they use data to make decisions across the company. </a:t>
            </a:r>
          </a:p>
          <a:p>
            <a:pPr marL="0" lvl="1" indent="-228600">
              <a:lnSpc>
                <a:spcPct val="100000"/>
              </a:lnSpc>
              <a:buFont typeface="Wingdings" panose="05000000000000000000" pitchFamily="2" charset="2"/>
              <a:buChar char="§"/>
            </a:pPr>
            <a:r>
              <a:rPr lang="en-US" dirty="0"/>
              <a:t>Study showed, statistically, the more data-driven a firm is, the more productive it is. </a:t>
            </a:r>
          </a:p>
          <a:p>
            <a:pPr marL="0" lvl="1" indent="-228600">
              <a:lnSpc>
                <a:spcPct val="100000"/>
              </a:lnSpc>
              <a:buFont typeface="Wingdings" panose="05000000000000000000" pitchFamily="2" charset="2"/>
              <a:buChar char="§"/>
            </a:pPr>
            <a:r>
              <a:rPr lang="en-US" dirty="0"/>
              <a:t>One standard higher deviation on the DDD scale is associated with a 4%-6% increase in productivity. </a:t>
            </a:r>
          </a:p>
          <a:p>
            <a:pPr marL="0" lvl="1" indent="-228600">
              <a:lnSpc>
                <a:spcPct val="100000"/>
              </a:lnSpc>
              <a:buFont typeface="Wingdings" panose="05000000000000000000" pitchFamily="2" charset="2"/>
              <a:buChar char="§"/>
            </a:pPr>
            <a:r>
              <a:rPr lang="en-US" dirty="0"/>
              <a:t>DDD is also correlated with a higher return on assets, return on equity, asset utilization, and market value. </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quarter" idx="14"/>
          </p:nvPr>
        </p:nvSpPr>
        <p:spPr>
          <a:xfrm>
            <a:off x="6459795" y="1691640"/>
            <a:ext cx="4894006" cy="4470329"/>
          </a:xfrm>
          <a:noFill/>
        </p:spPr>
        <p:txBody>
          <a:bodyPr>
            <a:normAutofit/>
          </a:bodyPr>
          <a:lstStyle/>
          <a:p>
            <a:r>
              <a:rPr lang="en-US" dirty="0"/>
              <a:t>A study conducted by economist Prasanna Tambe of NYU’s Stern School examined the extent to which big data technologies seem to help firms in the field of data science and decision making (Tambe, 2012). </a:t>
            </a:r>
          </a:p>
          <a:p>
            <a:pPr lvl="1"/>
            <a:r>
              <a:rPr lang="en-US" dirty="0"/>
              <a:t>He finds that using big data technologies is associated with significant additional productivity growth. </a:t>
            </a:r>
          </a:p>
          <a:p>
            <a:pPr lvl="1"/>
            <a:r>
              <a:rPr lang="en-US" dirty="0"/>
              <a:t>One standard deviation of higher utilization of big data technologies is associated with a 1%-3% higher productivity than the average business.</a:t>
            </a:r>
          </a:p>
          <a:p>
            <a:pPr lvl="1"/>
            <a:r>
              <a:rPr lang="en-US" dirty="0"/>
              <a:t>This can lead to potentially large productivity differences for business operating at the extremes.</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72960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563"/>
          </a:xfrm>
          <a:noFill/>
        </p:spPr>
        <p:txBody>
          <a:bodyPr anchor="ctr"/>
          <a:lstStyle/>
          <a:p>
            <a:r>
              <a:rPr lang="en-US" dirty="0"/>
              <a:t>Potential areas to collect data in casinos/Sportsbooks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838200" y="1790329"/>
            <a:ext cx="10515600" cy="4113054"/>
          </a:xfrm>
          <a:noFill/>
        </p:spPr>
        <p:txBody>
          <a:bodyPr vert="horz" lIns="91440" tIns="45720" rIns="91440" bIns="45720" rtlCol="0" anchor="t">
            <a:normAutofit/>
          </a:bodyPr>
          <a:lstStyle/>
          <a:p>
            <a:r>
              <a:rPr lang="en-US" sz="2400" dirty="0"/>
              <a:t>1.) Player Card Information:</a:t>
            </a:r>
          </a:p>
          <a:p>
            <a:pPr lvl="1"/>
            <a:r>
              <a:rPr lang="en-US" sz="2000" dirty="0"/>
              <a:t>A patron’s ‘player card’ will house a significant amount of data pertaining to the player. </a:t>
            </a:r>
          </a:p>
          <a:p>
            <a:pPr lvl="2"/>
            <a:r>
              <a:rPr lang="en-US" sz="2000" dirty="0"/>
              <a:t>What kind of games they tend to play/for how long they tend to play them.</a:t>
            </a:r>
          </a:p>
          <a:p>
            <a:pPr lvl="2"/>
            <a:r>
              <a:rPr lang="en-US" sz="2000" dirty="0"/>
              <a:t>How often they tend to gamble in a given time frame (day, week, month, year, etc.).</a:t>
            </a:r>
          </a:p>
          <a:p>
            <a:pPr marL="0" lvl="2" indent="0">
              <a:lnSpc>
                <a:spcPct val="150000"/>
              </a:lnSpc>
              <a:spcAft>
                <a:spcPts val="0"/>
              </a:spcAft>
              <a:buNone/>
            </a:pPr>
            <a:r>
              <a:rPr lang="en-US" sz="2400" dirty="0"/>
              <a:t>2.) Giveaways:</a:t>
            </a:r>
          </a:p>
          <a:p>
            <a:pPr lvl="1"/>
            <a:r>
              <a:rPr lang="en-US" sz="2000" dirty="0"/>
              <a:t>For every giveaway or promotional event you do, you can collect data on the demographics of players that respond to said giveaways and promotions and how those promotions affected the player’s engagement in the business. </a:t>
            </a:r>
          </a:p>
          <a:p>
            <a:pPr lvl="1"/>
            <a:endParaRPr lang="en-US" dirty="0"/>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EAE2-301D-24AB-17E6-CF0533ED3F65}"/>
              </a:ext>
            </a:extLst>
          </p:cNvPr>
          <p:cNvSpPr>
            <a:spLocks noGrp="1"/>
          </p:cNvSpPr>
          <p:nvPr>
            <p:ph type="title"/>
          </p:nvPr>
        </p:nvSpPr>
        <p:spPr/>
        <p:txBody>
          <a:bodyPr/>
          <a:lstStyle/>
          <a:p>
            <a:r>
              <a:rPr lang="en-US" sz="2800" dirty="0"/>
              <a:t>Potential areas to collect data in casinos and Sportsbooks Cont.</a:t>
            </a:r>
            <a:endParaRPr lang="en-US" dirty="0"/>
          </a:p>
        </p:txBody>
      </p:sp>
      <p:sp>
        <p:nvSpPr>
          <p:cNvPr id="3" name="Content Placeholder 2">
            <a:extLst>
              <a:ext uri="{FF2B5EF4-FFF2-40B4-BE49-F238E27FC236}">
                <a16:creationId xmlns:a16="http://schemas.microsoft.com/office/drawing/2014/main" id="{3AC2B832-8D31-010D-4A43-A0BA27E3B924}"/>
              </a:ext>
            </a:extLst>
          </p:cNvPr>
          <p:cNvSpPr>
            <a:spLocks noGrp="1"/>
          </p:cNvSpPr>
          <p:nvPr>
            <p:ph sz="quarter" idx="15"/>
          </p:nvPr>
        </p:nvSpPr>
        <p:spPr>
          <a:xfrm>
            <a:off x="838200" y="1790329"/>
            <a:ext cx="10278979" cy="4113054"/>
          </a:xfrm>
        </p:spPr>
        <p:txBody>
          <a:bodyPr>
            <a:normAutofit lnSpcReduction="10000"/>
          </a:bodyPr>
          <a:lstStyle/>
          <a:p>
            <a:r>
              <a:rPr lang="en-US" sz="2400" dirty="0"/>
              <a:t>3.) Hotel/Restaurant Guests:</a:t>
            </a:r>
          </a:p>
          <a:p>
            <a:pPr lvl="1"/>
            <a:r>
              <a:rPr lang="en-US" sz="2000" dirty="0"/>
              <a:t>Most casinos operate with extra amenities other than gambling. For example, most have a casino and a restaurant that patrons can use. You can collect and analyze data from these individuals to see if these are areas that can improve gambling retention, player satisfaction, etc. </a:t>
            </a:r>
            <a:endParaRPr lang="en-US" dirty="0"/>
          </a:p>
          <a:p>
            <a:r>
              <a:rPr lang="en-US" sz="2400" dirty="0"/>
              <a:t>4.) Sportsbook Account Information:</a:t>
            </a:r>
          </a:p>
          <a:p>
            <a:pPr lvl="1"/>
            <a:r>
              <a:rPr lang="en-US" sz="2000" dirty="0"/>
              <a:t>Since most sportsbook are operated through an app where players are forced to create an individual account, you have a direct platform that collects individual player data through said account. </a:t>
            </a:r>
          </a:p>
          <a:p>
            <a:pPr lvl="2"/>
            <a:r>
              <a:rPr lang="en-US" sz="2000" dirty="0"/>
              <a:t>Examples: How often the user plays parlays. How many bets they make per day. Which sports they bet on the most. </a:t>
            </a:r>
          </a:p>
          <a:p>
            <a:endParaRPr lang="en-US" dirty="0"/>
          </a:p>
        </p:txBody>
      </p:sp>
    </p:spTree>
    <p:extLst>
      <p:ext uri="{BB962C8B-B14F-4D97-AF65-F5344CB8AC3E}">
        <p14:creationId xmlns:p14="http://schemas.microsoft.com/office/powerpoint/2010/main" val="141811437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5CFE-7A27-8485-2E92-146A0BE2F90E}"/>
              </a:ext>
            </a:extLst>
          </p:cNvPr>
          <p:cNvSpPr>
            <a:spLocks noGrp="1"/>
          </p:cNvSpPr>
          <p:nvPr>
            <p:ph type="title"/>
          </p:nvPr>
        </p:nvSpPr>
        <p:spPr/>
        <p:txBody>
          <a:bodyPr/>
          <a:lstStyle/>
          <a:p>
            <a:r>
              <a:rPr lang="en-US" dirty="0"/>
              <a:t>Potential use cases for data science in casinos and sportsbooks</a:t>
            </a:r>
          </a:p>
        </p:txBody>
      </p:sp>
      <p:sp>
        <p:nvSpPr>
          <p:cNvPr id="3" name="Content Placeholder 2">
            <a:extLst>
              <a:ext uri="{FF2B5EF4-FFF2-40B4-BE49-F238E27FC236}">
                <a16:creationId xmlns:a16="http://schemas.microsoft.com/office/drawing/2014/main" id="{79BF018A-A33F-8FB6-D813-6BA20026B424}"/>
              </a:ext>
            </a:extLst>
          </p:cNvPr>
          <p:cNvSpPr>
            <a:spLocks noGrp="1"/>
          </p:cNvSpPr>
          <p:nvPr>
            <p:ph sz="quarter" idx="15"/>
          </p:nvPr>
        </p:nvSpPr>
        <p:spPr>
          <a:xfrm>
            <a:off x="838201" y="1790329"/>
            <a:ext cx="10515600" cy="4113054"/>
          </a:xfrm>
        </p:spPr>
        <p:txBody>
          <a:bodyPr>
            <a:normAutofit fontScale="85000" lnSpcReduction="20000"/>
          </a:bodyPr>
          <a:lstStyle/>
          <a:p>
            <a:pPr>
              <a:lnSpc>
                <a:spcPct val="160000"/>
              </a:lnSpc>
            </a:pPr>
            <a:r>
              <a:rPr lang="en-US" sz="2600" dirty="0"/>
              <a:t>1.) Gambling retention:</a:t>
            </a:r>
          </a:p>
          <a:p>
            <a:pPr lvl="1">
              <a:lnSpc>
                <a:spcPct val="110000"/>
              </a:lnSpc>
            </a:pPr>
            <a:r>
              <a:rPr lang="en-US" sz="2200" dirty="0"/>
              <a:t>Use data collected to determine which activities, giveaways, events, or promotions contribute the most to keeping players gambling the longest. </a:t>
            </a:r>
          </a:p>
          <a:p>
            <a:pPr>
              <a:lnSpc>
                <a:spcPct val="160000"/>
              </a:lnSpc>
            </a:pPr>
            <a:r>
              <a:rPr lang="en-US" sz="2600" dirty="0"/>
              <a:t>2.) Player Satisfaction:</a:t>
            </a:r>
          </a:p>
          <a:p>
            <a:pPr lvl="1">
              <a:lnSpc>
                <a:spcPct val="110000"/>
              </a:lnSpc>
            </a:pPr>
            <a:r>
              <a:rPr lang="en-US" sz="2200" dirty="0"/>
              <a:t>Use data collected to determine what events contribute the most to player satisfaction (winning, giveaways, socializing, etc.).</a:t>
            </a:r>
          </a:p>
          <a:p>
            <a:pPr>
              <a:lnSpc>
                <a:spcPct val="160000"/>
              </a:lnSpc>
            </a:pPr>
            <a:r>
              <a:rPr lang="en-US" sz="2600" dirty="0"/>
              <a:t>3.) Casino profitability:</a:t>
            </a:r>
          </a:p>
          <a:p>
            <a:pPr lvl="1">
              <a:lnSpc>
                <a:spcPct val="110000"/>
              </a:lnSpc>
            </a:pPr>
            <a:r>
              <a:rPr lang="en-US" sz="2200" dirty="0"/>
              <a:t>Use data collected to determine which games contribute the most to profitability while still being a popular game to play for the patrons. </a:t>
            </a:r>
          </a:p>
        </p:txBody>
      </p:sp>
    </p:spTree>
    <p:extLst>
      <p:ext uri="{BB962C8B-B14F-4D97-AF65-F5344CB8AC3E}">
        <p14:creationId xmlns:p14="http://schemas.microsoft.com/office/powerpoint/2010/main" val="1661228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0D0C-2D3A-16EC-A18F-3FA4BFB465C5}"/>
              </a:ext>
            </a:extLst>
          </p:cNvPr>
          <p:cNvSpPr>
            <a:spLocks noGrp="1"/>
          </p:cNvSpPr>
          <p:nvPr>
            <p:ph type="title"/>
          </p:nvPr>
        </p:nvSpPr>
        <p:spPr/>
        <p:txBody>
          <a:bodyPr/>
          <a:lstStyle/>
          <a:p>
            <a:r>
              <a:rPr lang="en-US" sz="2800" dirty="0"/>
              <a:t>Potential use cases for data science in casinos and sportsbooks Cont.</a:t>
            </a:r>
          </a:p>
        </p:txBody>
      </p:sp>
      <p:sp>
        <p:nvSpPr>
          <p:cNvPr id="3" name="Content Placeholder 2">
            <a:extLst>
              <a:ext uri="{FF2B5EF4-FFF2-40B4-BE49-F238E27FC236}">
                <a16:creationId xmlns:a16="http://schemas.microsoft.com/office/drawing/2014/main" id="{2A14BC93-CDD1-CC6F-6FC6-84B8975251AF}"/>
              </a:ext>
            </a:extLst>
          </p:cNvPr>
          <p:cNvSpPr>
            <a:spLocks noGrp="1"/>
          </p:cNvSpPr>
          <p:nvPr>
            <p:ph sz="quarter" idx="15"/>
          </p:nvPr>
        </p:nvSpPr>
        <p:spPr>
          <a:xfrm>
            <a:off x="838200" y="1790329"/>
            <a:ext cx="10515600" cy="4113054"/>
          </a:xfrm>
        </p:spPr>
        <p:txBody>
          <a:bodyPr>
            <a:normAutofit/>
          </a:bodyPr>
          <a:lstStyle/>
          <a:p>
            <a:r>
              <a:rPr lang="en-US" sz="2200" dirty="0"/>
              <a:t>4.) Sportsbook profitability:</a:t>
            </a:r>
          </a:p>
          <a:p>
            <a:pPr lvl="1">
              <a:lnSpc>
                <a:spcPct val="100000"/>
              </a:lnSpc>
            </a:pPr>
            <a:r>
              <a:rPr lang="en-US" sz="1900" dirty="0"/>
              <a:t>Use data collected from sportsbook app to determine which types of bets are the most profitable (straight, prop, parlays) versus which bets are most popular, and determining how you can correlate the most profitable and the most popular to maximize profit. </a:t>
            </a:r>
          </a:p>
          <a:p>
            <a:pPr>
              <a:lnSpc>
                <a:spcPct val="160000"/>
              </a:lnSpc>
            </a:pPr>
            <a:r>
              <a:rPr lang="en-US" sz="2200" dirty="0"/>
              <a:t>5.) Promotional Giveaways:</a:t>
            </a:r>
          </a:p>
          <a:p>
            <a:pPr lvl="1">
              <a:lnSpc>
                <a:spcPct val="100000"/>
              </a:lnSpc>
            </a:pPr>
            <a:r>
              <a:rPr lang="en-US" sz="1900" dirty="0"/>
              <a:t>Use data collected from both the casino and sportsbook to determine which promotional giveaways correlate directly with increased player retention and increased betting. You can also use this data to determine which marketing campaigns will be most effective for gaining new customers, retaining current customers, and increase activity from both in the future. </a:t>
            </a:r>
          </a:p>
        </p:txBody>
      </p:sp>
    </p:spTree>
    <p:extLst>
      <p:ext uri="{BB962C8B-B14F-4D97-AF65-F5344CB8AC3E}">
        <p14:creationId xmlns:p14="http://schemas.microsoft.com/office/powerpoint/2010/main" val="11329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C104-04C9-A3DB-E01B-176F6B116E5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929A479-4E9F-B82F-755B-4BE2912B9814}"/>
              </a:ext>
            </a:extLst>
          </p:cNvPr>
          <p:cNvSpPr>
            <a:spLocks noGrp="1"/>
          </p:cNvSpPr>
          <p:nvPr>
            <p:ph sz="quarter" idx="15"/>
          </p:nvPr>
        </p:nvSpPr>
        <p:spPr>
          <a:xfrm>
            <a:off x="838200" y="1790329"/>
            <a:ext cx="10515600" cy="4113054"/>
          </a:xfrm>
        </p:spPr>
        <p:txBody>
          <a:bodyPr/>
          <a:lstStyle/>
          <a:p>
            <a:r>
              <a:rPr lang="en-US" dirty="0"/>
              <a:t>1.) Wheelan, C. (2013). </a:t>
            </a:r>
            <a:r>
              <a:rPr lang="en-US" i="1" dirty="0"/>
              <a:t>Naked Statistics: Stripping the Dread from the Data</a:t>
            </a:r>
            <a:r>
              <a:rPr lang="en-US" dirty="0"/>
              <a:t>. W.W. Norton &amp; Company.</a:t>
            </a:r>
          </a:p>
          <a:p>
            <a:r>
              <a:rPr lang="en-US" dirty="0"/>
              <a:t>2.) Provost, F., &amp; Fawcett, T. (n.d.). </a:t>
            </a:r>
            <a:r>
              <a:rPr lang="en-US" i="1" dirty="0"/>
              <a:t>Data Science for Business</a:t>
            </a:r>
            <a:r>
              <a:rPr lang="en-US" dirty="0"/>
              <a:t>. Retrieved from https://platform.virdocs.com/read/542691/389/#/4/4.</a:t>
            </a:r>
          </a:p>
          <a:p>
            <a:r>
              <a:rPr lang="en-US" dirty="0"/>
              <a:t>3.) Brynjolfsson, E., Hitt, L. M., &amp; Kim, H. H. (2011). </a:t>
            </a:r>
            <a:r>
              <a:rPr lang="en-US" i="1" dirty="0"/>
              <a:t>Strength in numbers: How does data-driven decision making affect firm performance? </a:t>
            </a:r>
            <a:r>
              <a:rPr lang="en-US" dirty="0"/>
              <a:t>Tech. rep., available at SSRN: http://ssrn.com/abstract=1819486 or http://dx.doi.org/10.2139/ssrn.1819486.</a:t>
            </a:r>
          </a:p>
          <a:p>
            <a:r>
              <a:rPr lang="en-US" dirty="0"/>
              <a:t>4.) Tambe, P. (2013). </a:t>
            </a:r>
            <a:r>
              <a:rPr lang="en-US" i="1" dirty="0"/>
              <a:t>Big Data Investment, Skills, and Firm Value</a:t>
            </a:r>
            <a:r>
              <a:rPr lang="en-US" dirty="0"/>
              <a:t>. Working Paper, NYU Stern. Available: http://papers.ssrn.com/sol3/papers.cfm?abstract_id=2294077.</a:t>
            </a:r>
          </a:p>
        </p:txBody>
      </p:sp>
    </p:spTree>
    <p:extLst>
      <p:ext uri="{BB962C8B-B14F-4D97-AF65-F5344CB8AC3E}">
        <p14:creationId xmlns:p14="http://schemas.microsoft.com/office/powerpoint/2010/main" val="809802519"/>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F048343-1EA9-44C3-883E-652FAAF0713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183</TotalTime>
  <Words>1191</Words>
  <Application>Microsoft Office PowerPoint</Application>
  <PresentationFormat>Widescreen</PresentationFormat>
  <Paragraphs>67</Paragraphs>
  <Slides>10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Wingdings</vt:lpstr>
      <vt:lpstr>Custom</vt:lpstr>
      <vt:lpstr>DS Casino and Sportsbook</vt:lpstr>
      <vt:lpstr>    What is Data Science?</vt:lpstr>
      <vt:lpstr>Data-Driven Decision-making (DDD)</vt:lpstr>
      <vt:lpstr>Big Data technologies </vt:lpstr>
      <vt:lpstr>Potential benefits of DDD and Big Data Tech</vt:lpstr>
      <vt:lpstr>Potential areas to collect data in casinos/Sportsbooks</vt:lpstr>
      <vt:lpstr>Potential areas to collect data in casinos and Sportsbooks Cont.</vt:lpstr>
      <vt:lpstr>Potential use cases for data science in casinos and sportsbooks</vt:lpstr>
      <vt:lpstr>Potential use cases for data science in casinos and sportsbooks Cont.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wade eckert</dc:creator>
  <cp:lastModifiedBy>wade eckert</cp:lastModifiedBy>
  <cp:revision>5</cp:revision>
  <dcterms:created xsi:type="dcterms:W3CDTF">2025-03-16T03:41:15Z</dcterms:created>
  <dcterms:modified xsi:type="dcterms:W3CDTF">2025-03-16T06:44:52Z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