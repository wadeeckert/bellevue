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176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ade Eckert" userId="2a0534719079248d" providerId="LiveId" clId="{3C5F8ADE-FE61-4081-82B3-FD9031910CD9}"/>
    <pc:docChg chg="modSld">
      <pc:chgData name="Wade Eckert" userId="2a0534719079248d" providerId="LiveId" clId="{3C5F8ADE-FE61-4081-82B3-FD9031910CD9}" dt="2025-06-23T03:24:32.883" v="11" actId="20577"/>
      <pc:docMkLst>
        <pc:docMk/>
      </pc:docMkLst>
      <pc:sldChg chg="modSp mod">
        <pc:chgData name="Wade Eckert" userId="2a0534719079248d" providerId="LiveId" clId="{3C5F8ADE-FE61-4081-82B3-FD9031910CD9}" dt="2025-06-23T03:24:32.883" v="11" actId="20577"/>
        <pc:sldMkLst>
          <pc:docMk/>
          <pc:sldMk cId="0" sldId="264"/>
        </pc:sldMkLst>
        <pc:spChg chg="mod">
          <ac:chgData name="Wade Eckert" userId="2a0534719079248d" providerId="LiveId" clId="{3C5F8ADE-FE61-4081-82B3-FD9031910CD9}" dt="2025-06-23T03:24:32.883" v="11" actId="20577"/>
          <ac:spMkLst>
            <pc:docMk/>
            <pc:sldMk cId="0" sldId="264"/>
            <ac:spMk id="2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0827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2863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127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7892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499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3613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4012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9850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7235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05976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97989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4301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056631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3029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6542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4074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5309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Communication in Virtual Teams: Challenges, Differences, and Strategies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sz="1800" dirty="0"/>
              <a:t>Presented by: </a:t>
            </a:r>
            <a:r>
              <a:rPr lang="en-US" sz="1800" dirty="0"/>
              <a:t>Wade Eckert</a:t>
            </a:r>
            <a:endParaRPr sz="1800" dirty="0"/>
          </a:p>
          <a:p>
            <a:r>
              <a:rPr lang="en-US" sz="1800" dirty="0"/>
              <a:t>CSD 200: Foundations of Software Development</a:t>
            </a:r>
          </a:p>
          <a:p>
            <a:r>
              <a:rPr lang="en-US" sz="1800" dirty="0"/>
              <a:t>Instructor: Professor Chandra Bobba</a:t>
            </a:r>
            <a:endParaRPr sz="1800" dirty="0"/>
          </a:p>
          <a:p>
            <a:r>
              <a:rPr sz="1800" dirty="0"/>
              <a:t>Date: </a:t>
            </a:r>
            <a:r>
              <a:rPr lang="en-US" sz="1800" dirty="0"/>
              <a:t>June 22, 2025</a:t>
            </a:r>
            <a:endParaRPr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sz="1800" dirty="0"/>
              <a:t>• Virtual teams are now a regular part of the modern workplace.</a:t>
            </a:r>
            <a:endParaRPr lang="en-US" sz="1800" dirty="0"/>
          </a:p>
          <a:p>
            <a:pPr marL="0" indent="0">
              <a:buNone/>
            </a:pPr>
            <a:endParaRPr sz="1800" dirty="0"/>
          </a:p>
          <a:p>
            <a:pPr marL="0" indent="0">
              <a:buNone/>
            </a:pPr>
            <a:r>
              <a:rPr sz="1800" dirty="0"/>
              <a:t>• Good communication is key</a:t>
            </a:r>
            <a:r>
              <a:rPr lang="en-US" sz="1800" dirty="0"/>
              <a:t> to an effective business or organization, </a:t>
            </a:r>
            <a:r>
              <a:rPr sz="1800" dirty="0"/>
              <a:t>but</a:t>
            </a:r>
            <a:r>
              <a:rPr lang="en-US" sz="1800" dirty="0"/>
              <a:t> it</a:t>
            </a:r>
            <a:r>
              <a:rPr sz="1800" dirty="0"/>
              <a:t> can be tricky when </a:t>
            </a:r>
            <a:r>
              <a:rPr lang="en-US" sz="1800" dirty="0"/>
              <a:t>done remotely</a:t>
            </a:r>
            <a:r>
              <a:rPr sz="1800" dirty="0"/>
              <a:t>.</a:t>
            </a:r>
            <a:endParaRPr lang="en-US" sz="1800" dirty="0"/>
          </a:p>
          <a:p>
            <a:pPr marL="0" indent="0">
              <a:buNone/>
            </a:pPr>
            <a:endParaRPr sz="1800" dirty="0"/>
          </a:p>
          <a:p>
            <a:pPr marL="0" indent="0">
              <a:buNone/>
            </a:pPr>
            <a:r>
              <a:rPr sz="1800" dirty="0"/>
              <a:t>• This presentation explores virtual communication challenges and offers practical ways to improve connection, trust, and collaboration.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Common Communication Challenges in Virtual Teams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sz="1800" dirty="0"/>
              <a:t>• Different Time Zones: Hard to find </a:t>
            </a:r>
            <a:r>
              <a:rPr lang="en-US" sz="1800" dirty="0"/>
              <a:t>an </a:t>
            </a:r>
            <a:r>
              <a:rPr sz="1800" dirty="0"/>
              <a:t>overlap for real-time meetings.</a:t>
            </a:r>
            <a:endParaRPr lang="en-US" sz="1800" dirty="0"/>
          </a:p>
          <a:p>
            <a:pPr marL="0" indent="0">
              <a:buNone/>
            </a:pPr>
            <a:endParaRPr sz="1800" dirty="0"/>
          </a:p>
          <a:p>
            <a:pPr marL="0" indent="0">
              <a:buNone/>
            </a:pPr>
            <a:r>
              <a:rPr sz="1800" dirty="0"/>
              <a:t>• Missing Body Language: Messages can be misread.</a:t>
            </a:r>
            <a:endParaRPr lang="en-US" sz="1800" dirty="0"/>
          </a:p>
          <a:p>
            <a:pPr marL="0" indent="0">
              <a:buNone/>
            </a:pPr>
            <a:endParaRPr sz="1800" dirty="0"/>
          </a:p>
          <a:p>
            <a:pPr marL="0" indent="0">
              <a:buNone/>
            </a:pPr>
            <a:r>
              <a:rPr sz="1800" dirty="0"/>
              <a:t>• Tech Troubles: Interruptions from </a:t>
            </a:r>
            <a:r>
              <a:rPr lang="en-US" sz="1800" dirty="0"/>
              <a:t>the </a:t>
            </a:r>
            <a:r>
              <a:rPr sz="1800" dirty="0"/>
              <a:t>internet or unfamiliar tools</a:t>
            </a:r>
            <a:r>
              <a:rPr lang="en-US" sz="1800" dirty="0"/>
              <a:t> and IT problems</a:t>
            </a:r>
            <a:r>
              <a:rPr sz="1800" dirty="0"/>
              <a:t>.</a:t>
            </a:r>
            <a:endParaRPr lang="en-US" sz="1800" dirty="0"/>
          </a:p>
          <a:p>
            <a:pPr marL="0" indent="0">
              <a:buNone/>
            </a:pPr>
            <a:endParaRPr sz="1800" dirty="0"/>
          </a:p>
          <a:p>
            <a:pPr marL="0" indent="0">
              <a:buNone/>
            </a:pPr>
            <a:r>
              <a:rPr sz="1800" dirty="0"/>
              <a:t>• Less Social Interaction: Harder to build relationships</a:t>
            </a:r>
            <a:r>
              <a:rPr lang="en-US" sz="1800" dirty="0"/>
              <a:t> with fellow employees</a:t>
            </a:r>
            <a:r>
              <a:rPr sz="1800" dirty="0"/>
              <a:t>.</a:t>
            </a:r>
            <a:endParaRPr lang="en-US" sz="1800" dirty="0"/>
          </a:p>
          <a:p>
            <a:pPr marL="0" indent="0">
              <a:buNone/>
            </a:pPr>
            <a:endParaRPr sz="1800" dirty="0"/>
          </a:p>
          <a:p>
            <a:pPr marL="0" indent="0">
              <a:buNone/>
            </a:pPr>
            <a:r>
              <a:rPr sz="1800" dirty="0"/>
              <a:t>• Misunderstandings: Tone and intent can get lost</a:t>
            </a:r>
            <a:r>
              <a:rPr lang="en-US" sz="1800" dirty="0"/>
              <a:t>, especially in text-based formats</a:t>
            </a:r>
            <a:r>
              <a:rPr sz="1800" dirty="0"/>
              <a:t> (Hoch &amp; Kozlowski, 2014).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Virtual vs. Face-to-Face Communication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1800" b="1" dirty="0"/>
              <a:t>Virtual Teams:</a:t>
            </a:r>
            <a:endParaRPr lang="en-US" sz="1800" dirty="0"/>
          </a:p>
          <a:p>
            <a:pPr lvl="1"/>
            <a:r>
              <a:rPr lang="en-US" sz="1400" dirty="0"/>
              <a:t>Reliant on digital tools (email, chat, video).</a:t>
            </a:r>
          </a:p>
          <a:p>
            <a:pPr lvl="1"/>
            <a:r>
              <a:rPr lang="en-US" sz="1400" dirty="0"/>
              <a:t>Limited access to spontaneous feedback.</a:t>
            </a:r>
          </a:p>
          <a:p>
            <a:pPr lvl="1"/>
            <a:r>
              <a:rPr lang="en-US" sz="1400" dirty="0"/>
              <a:t>Greater chance of misunderstanding others without visual cues.</a:t>
            </a:r>
          </a:p>
          <a:p>
            <a:pPr marL="457200" lvl="1" indent="0">
              <a:buNone/>
            </a:pPr>
            <a:endParaRPr lang="en-US" sz="1400" dirty="0"/>
          </a:p>
          <a:p>
            <a:r>
              <a:rPr lang="en-US" sz="1800" b="1" dirty="0"/>
              <a:t>Face-to-Face Teams:</a:t>
            </a:r>
            <a:endParaRPr lang="en-US" sz="1800" dirty="0"/>
          </a:p>
          <a:p>
            <a:pPr lvl="1"/>
            <a:r>
              <a:rPr lang="en-US" sz="1400" dirty="0"/>
              <a:t>Rich communication through tone, body language, and immediate interaction.</a:t>
            </a:r>
          </a:p>
          <a:p>
            <a:pPr lvl="1"/>
            <a:r>
              <a:rPr lang="en-US" sz="1400" dirty="0"/>
              <a:t>Easier to establish rapport with employees and provide clarity.</a:t>
            </a:r>
          </a:p>
          <a:p>
            <a:pPr marL="457200" lvl="1" indent="0">
              <a:buNone/>
            </a:pPr>
            <a:endParaRPr lang="en-US" sz="1400" dirty="0"/>
          </a:p>
          <a:p>
            <a:r>
              <a:rPr lang="en-US" sz="1800" b="1" dirty="0"/>
              <a:t>Similarities:</a:t>
            </a:r>
            <a:endParaRPr lang="en-US" sz="1800" dirty="0"/>
          </a:p>
          <a:p>
            <a:pPr lvl="1"/>
            <a:r>
              <a:rPr lang="en-US" sz="1400" dirty="0"/>
              <a:t>Both require active listening, clarity, and follow-up for effective two-way communication.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How to Build Trust and Two-Way Communication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sz="1800" dirty="0"/>
              <a:t>• Set Clear Expectations: Everyone </a:t>
            </a:r>
            <a:r>
              <a:rPr lang="en-US" sz="1800" dirty="0"/>
              <a:t>should </a:t>
            </a:r>
            <a:r>
              <a:rPr sz="1800" dirty="0"/>
              <a:t>know how and when to communicate.</a:t>
            </a:r>
            <a:endParaRPr lang="en-US" sz="1800" dirty="0"/>
          </a:p>
          <a:p>
            <a:pPr marL="0" indent="0">
              <a:buNone/>
            </a:pPr>
            <a:endParaRPr sz="1800" dirty="0"/>
          </a:p>
          <a:p>
            <a:pPr marL="0" indent="0">
              <a:buNone/>
            </a:pPr>
            <a:r>
              <a:rPr sz="1800" dirty="0"/>
              <a:t>• Turn on the Camera: Boosts engagement</a:t>
            </a:r>
            <a:r>
              <a:rPr lang="en-US" sz="1800" dirty="0"/>
              <a:t> for all members of a team</a:t>
            </a:r>
            <a:r>
              <a:rPr sz="1800" dirty="0"/>
              <a:t>.</a:t>
            </a:r>
            <a:endParaRPr lang="en-US" sz="1800" dirty="0"/>
          </a:p>
          <a:p>
            <a:pPr marL="0" indent="0">
              <a:buNone/>
            </a:pPr>
            <a:endParaRPr sz="1800" dirty="0"/>
          </a:p>
          <a:p>
            <a:pPr marL="0" indent="0">
              <a:buNone/>
            </a:pPr>
            <a:r>
              <a:rPr sz="1800" dirty="0"/>
              <a:t>• Be Open and Encouraging: Create space for input</a:t>
            </a:r>
            <a:r>
              <a:rPr lang="en-US" sz="1800" dirty="0"/>
              <a:t> and be open to constructive criticism</a:t>
            </a:r>
            <a:r>
              <a:rPr sz="1800" dirty="0"/>
              <a:t>.</a:t>
            </a:r>
            <a:endParaRPr lang="en-US" sz="1800" dirty="0"/>
          </a:p>
          <a:p>
            <a:pPr marL="0" indent="0">
              <a:buNone/>
            </a:pPr>
            <a:endParaRPr sz="1800" dirty="0"/>
          </a:p>
          <a:p>
            <a:pPr marL="0" indent="0">
              <a:buNone/>
            </a:pPr>
            <a:r>
              <a:rPr sz="1800" dirty="0"/>
              <a:t>• Follow Up and Follow Through: </a:t>
            </a:r>
            <a:r>
              <a:rPr lang="en-US" sz="1800" dirty="0"/>
              <a:t>Show you are</a:t>
            </a:r>
            <a:r>
              <a:rPr sz="1800" dirty="0"/>
              <a:t> </a:t>
            </a:r>
            <a:r>
              <a:rPr lang="en-US" sz="1800" dirty="0"/>
              <a:t>reliable and trustworthy</a:t>
            </a:r>
            <a:r>
              <a:rPr sz="1800" dirty="0"/>
              <a:t>.</a:t>
            </a:r>
            <a:endParaRPr lang="en-US" sz="1800" dirty="0"/>
          </a:p>
          <a:p>
            <a:pPr marL="0" indent="0">
              <a:buNone/>
            </a:pPr>
            <a:endParaRPr sz="1800" dirty="0"/>
          </a:p>
          <a:p>
            <a:pPr marL="0" indent="0">
              <a:buNone/>
            </a:pPr>
            <a:r>
              <a:rPr sz="1800" dirty="0"/>
              <a:t>• Celebrate Wins: </a:t>
            </a:r>
            <a:r>
              <a:rPr lang="en-US" sz="1800" dirty="0"/>
              <a:t>Always take the time to celebrate the advancements and improvements of all team members </a:t>
            </a:r>
            <a:r>
              <a:rPr sz="1800" dirty="0"/>
              <a:t>(Edmondson, 2019).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How to Improve Body Language Virtually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/>
              <a:t>Optimize Video Presence: Maintain eye-level camera placement and proper lighting to simulate in-person cues.</a:t>
            </a:r>
          </a:p>
          <a:p>
            <a:endParaRPr lang="en-US" sz="1800" dirty="0"/>
          </a:p>
          <a:p>
            <a:r>
              <a:rPr lang="en-US" sz="1800" dirty="0"/>
              <a:t>Utilize Expressive Facial Cues: Smile, nod, and use natural expressions to convey attentiveness and empathy.</a:t>
            </a:r>
          </a:p>
          <a:p>
            <a:endParaRPr lang="en-US" sz="1800" dirty="0"/>
          </a:p>
          <a:p>
            <a:r>
              <a:rPr lang="en-US" sz="1800" dirty="0"/>
              <a:t>Engage in Purposeful Gesturing: Use hand and body movements to emphasize points and mirror natural conversation.</a:t>
            </a:r>
            <a:endParaRPr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Helpful Tools and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sz="1800" dirty="0"/>
              <a:t>• Communication Platforms: Zoom, Teams, Slack.</a:t>
            </a:r>
            <a:endParaRPr lang="en-US" sz="1800" dirty="0"/>
          </a:p>
          <a:p>
            <a:pPr marL="0" indent="0">
              <a:buNone/>
            </a:pPr>
            <a:endParaRPr sz="1800" dirty="0"/>
          </a:p>
          <a:p>
            <a:pPr marL="0" indent="0">
              <a:buNone/>
            </a:pPr>
            <a:r>
              <a:rPr sz="1800" dirty="0"/>
              <a:t>• Task Management: Asana, Trello, Monday.</a:t>
            </a:r>
            <a:endParaRPr lang="en-US" sz="1800" dirty="0"/>
          </a:p>
          <a:p>
            <a:pPr marL="0" indent="0">
              <a:buNone/>
            </a:pPr>
            <a:endParaRPr sz="1800" dirty="0"/>
          </a:p>
          <a:p>
            <a:pPr marL="0" indent="0">
              <a:buNone/>
            </a:pPr>
            <a:r>
              <a:rPr sz="1800" dirty="0"/>
              <a:t>• File Sharing: Google Drive, SharePoint</a:t>
            </a:r>
            <a:r>
              <a:rPr lang="en-US" sz="1800" dirty="0"/>
              <a:t>, GitHub</a:t>
            </a:r>
            <a:r>
              <a:rPr sz="1800" dirty="0"/>
              <a:t>.</a:t>
            </a:r>
            <a:endParaRPr lang="en-US" sz="1800" dirty="0"/>
          </a:p>
          <a:p>
            <a:pPr marL="0" indent="0">
              <a:buNone/>
            </a:pPr>
            <a:endParaRPr sz="1800" dirty="0"/>
          </a:p>
          <a:p>
            <a:pPr marL="0" indent="0">
              <a:buNone/>
            </a:pPr>
            <a:r>
              <a:rPr sz="1800" dirty="0"/>
              <a:t>• Team Culture: Use virtual chats and check-ins to build connection</a:t>
            </a:r>
            <a:r>
              <a:rPr lang="en-US" sz="1800" dirty="0"/>
              <a:t>s between team members</a:t>
            </a:r>
            <a:r>
              <a:rPr sz="1800" dirty="0"/>
              <a:t> (Dulebohn &amp; Hoch, 2017).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Thoughts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sz="1800" dirty="0"/>
              <a:t>• Communicating well in a virtual team takes effort</a:t>
            </a:r>
            <a:r>
              <a:rPr lang="en-US" sz="1800" dirty="0"/>
              <a:t>, </a:t>
            </a:r>
            <a:r>
              <a:rPr sz="1800" dirty="0"/>
              <a:t>but it’s worth it</a:t>
            </a:r>
            <a:r>
              <a:rPr lang="en-US" sz="1800" dirty="0"/>
              <a:t> if done correctly</a:t>
            </a:r>
            <a:r>
              <a:rPr sz="1800" dirty="0"/>
              <a:t>.</a:t>
            </a:r>
            <a:r>
              <a:rPr lang="en-US" sz="1800" dirty="0"/>
              <a:t> Extra care must be taken to ensure that virtual communication is being done correctly and effectively. Ask for constant feedback from team members.</a:t>
            </a:r>
          </a:p>
          <a:p>
            <a:pPr marL="0" indent="0">
              <a:buNone/>
            </a:pPr>
            <a:endParaRPr sz="1800" dirty="0"/>
          </a:p>
          <a:p>
            <a:pPr marL="0" indent="0">
              <a:buNone/>
            </a:pPr>
            <a:r>
              <a:rPr sz="1800" dirty="0"/>
              <a:t>• With the right tools, habits, and mindset, remote teams can succeed</a:t>
            </a:r>
            <a:r>
              <a:rPr lang="en-US" sz="1800" dirty="0"/>
              <a:t>, but everyone must make a concerted effort to improve. </a:t>
            </a:r>
          </a:p>
          <a:p>
            <a:pPr marL="0" indent="0">
              <a:buNone/>
            </a:pPr>
            <a:endParaRPr sz="1800" dirty="0"/>
          </a:p>
          <a:p>
            <a:pPr marL="0" indent="0">
              <a:buNone/>
            </a:pPr>
            <a:r>
              <a:rPr sz="1800" dirty="0"/>
              <a:t>• Communication is everyone’s responsibility</a:t>
            </a:r>
            <a:r>
              <a:rPr lang="en-US" sz="1800" dirty="0"/>
              <a:t>, and the more people who embrace this mindset, the better the overall effectiveness of a business will be</a:t>
            </a:r>
            <a:r>
              <a:rPr sz="1800" dirty="0"/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References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sz="1800"/>
              <a:t>Dulebohn, J. H., &amp; Hoch, J. E. (2017). Virtual teams in organizations. Human Resource Management Review, 27(4), 569–574. https://doi.org/10.1016/j.hrmr.2016.12.004</a:t>
            </a:r>
          </a:p>
          <a:p>
            <a:r>
              <a:rPr sz="1800"/>
              <a:t>Edmondson, A. C. (2019). The fearless organization: Creating psychological safety in the workplace for learning, innovation, and growth. Wiley.</a:t>
            </a:r>
          </a:p>
          <a:p>
            <a:r>
              <a:rPr sz="1800"/>
              <a:t>Hoch, J. E., &amp; Kozlowski, S. W. J. (2014). Leading virtual teams: Hierarchical leadership, structural supports, and shared team leadership. Journal of Applied Psychology, 99(3), 390–403. https://doi.org/10.1037/a0030264</a:t>
            </a:r>
          </a:p>
          <a:p>
            <a:r>
              <a:rPr sz="1800"/>
              <a:t>Purvanova, R. K. (2014). Face-to-face versus virtual teams: What have we really learned? The Psychologist-Manager Journal, 17(1), 2–29. https://doi.org/10.1037/mgr0000009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401</TotalTime>
  <Words>708</Words>
  <Application>Microsoft Office PowerPoint</Application>
  <PresentationFormat>On-screen Show (4:3)</PresentationFormat>
  <Paragraphs>68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Century Gothic</vt:lpstr>
      <vt:lpstr>Wingdings 3</vt:lpstr>
      <vt:lpstr>Wisp</vt:lpstr>
      <vt:lpstr>Communication in Virtual Teams: Challenges, Differences, and Strategies</vt:lpstr>
      <vt:lpstr>Introduction</vt:lpstr>
      <vt:lpstr>Common Communication Challenges in Virtual Teams</vt:lpstr>
      <vt:lpstr>Virtual vs. Face-to-Face Communication</vt:lpstr>
      <vt:lpstr>How to Build Trust and Two-Way Communication</vt:lpstr>
      <vt:lpstr>How to Improve Body Language Virtually</vt:lpstr>
      <vt:lpstr>Helpful Tools and Practices</vt:lpstr>
      <vt:lpstr>Final Thoughts</vt:lpstr>
      <vt:lpstr>References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Wade Eckert</dc:creator>
  <cp:keywords/>
  <dc:description>generated using python-pptx</dc:description>
  <cp:lastModifiedBy>Wade Eckert</cp:lastModifiedBy>
  <cp:revision>7</cp:revision>
  <dcterms:created xsi:type="dcterms:W3CDTF">2013-01-27T09:14:16Z</dcterms:created>
  <dcterms:modified xsi:type="dcterms:W3CDTF">2025-06-23T03:24:38Z</dcterms:modified>
  <cp:category/>
</cp:coreProperties>
</file>